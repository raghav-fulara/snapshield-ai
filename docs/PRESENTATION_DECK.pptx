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A0C10"/>
          </a:solidFill>
          <a:ln>
            <a:solidFill>
              <a:srgbClr val="0A0C1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1143000" y="1371600"/>
            <a:ext cx="9966960" cy="23438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400"/>
              </a:spcBef>
              <a:defRPr b="1" sz="1300">
                <a:solidFill>
                  <a:srgbClr val="E10600"/>
                </a:solidFill>
              </a:defRPr>
            </a:pPr>
            <a:r>
              <a:t>QUALCOMM &amp; HP • SNAPDRAGON® AI LAB BUILD &amp; PRESENT CHALLENGE</a:t>
            </a:r>
          </a:p>
          <a:p>
            <a:pPr>
              <a:spcBef>
                <a:spcPts val="1000"/>
              </a:spcBef>
              <a:defRPr b="1" sz="4600">
                <a:solidFill>
                  <a:srgbClr val="F3F4F6"/>
                </a:solidFill>
              </a:defRPr>
            </a:pPr>
            <a:r>
              <a:t>SnapShield AI</a:t>
            </a:r>
          </a:p>
          <a:p>
            <a:pPr>
              <a:spcBef>
                <a:spcPts val="2000"/>
              </a:spcBef>
              <a:defRPr sz="1900">
                <a:solidFill>
                  <a:srgbClr val="0096D6"/>
                </a:solidFill>
              </a:defRPr>
            </a:pPr>
            <a:r>
              <a:t>Autonomous Multimodal Privacy &amp; Cyber-Physical Sentinel for Snapdragon Copilot+ HP PCs</a:t>
            </a:r>
          </a:p>
          <a:p>
            <a:pPr>
              <a:spcBef>
                <a:spcPts val="1000"/>
              </a:spcBef>
              <a:defRPr sz="1200">
                <a:solidFill>
                  <a:srgbClr val="9CA3AF"/>
                </a:solidFill>
              </a:defRPr>
            </a:pPr>
            <a:r>
              <a:t>Silicon: Qualcomm Hexagon™ NPU (45 TOPS) | Runtime: ONNX QNN EP | Target: HP OmniBook Ultra</a:t>
            </a:r>
          </a:p>
          <a:p>
            <a:pPr>
              <a:defRPr b="1" sz="1200">
                <a:solidFill>
                  <a:srgbClr val="F3F4F6"/>
                </a:solidFill>
              </a:defRPr>
            </a:pPr>
            <a:r>
              <a:t>Presenter: Raghav Fulara (raghavfmain@gmail.com) | Qualcomm Snapdragon® AI Lab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A0C10"/>
          </a:solidFill>
          <a:ln>
            <a:solidFill>
              <a:srgbClr val="0A0C1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8" name="TextBox 2"/>
          <p:cNvSpPr txBox="1"/>
          <p:nvPr/>
        </p:nvSpPr>
        <p:spPr>
          <a:xfrm>
            <a:off x="777239" y="365759"/>
            <a:ext cx="1060704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10600"/>
                </a:solidFill>
              </a:defRPr>
            </a:lvl1pPr>
          </a:lstStyle>
          <a:p>
            <a:pPr/>
            <a:r>
              <a:t>PROBLEM STATEMENT &amp; MOTIVATION</a:t>
            </a:r>
          </a:p>
        </p:txBody>
      </p:sp>
      <p:sp>
        <p:nvSpPr>
          <p:cNvPr id="99" name="TextBox 3"/>
          <p:cNvSpPr txBox="1"/>
          <p:nvPr/>
        </p:nvSpPr>
        <p:spPr>
          <a:xfrm>
            <a:off x="777239" y="685800"/>
            <a:ext cx="10607041" cy="4150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500">
                <a:solidFill>
                  <a:srgbClr val="F3F4F6"/>
                </a:solidFill>
              </a:defRPr>
            </a:lvl1pPr>
          </a:lstStyle>
          <a:p>
            <a:pPr/>
            <a:r>
              <a:t>The Crisis: The Tri-Modal Edge Privacy Paradox</a:t>
            </a:r>
          </a:p>
        </p:txBody>
      </p:sp>
      <p:sp>
        <p:nvSpPr>
          <p:cNvPr id="100" name="Rounded Rectangle 4"/>
          <p:cNvSpPr/>
          <p:nvPr/>
        </p:nvSpPr>
        <p:spPr>
          <a:xfrm>
            <a:off x="731519" y="1645920"/>
            <a:ext cx="3291842" cy="4389121"/>
          </a:xfrm>
          <a:prstGeom prst="roundRect">
            <a:avLst>
              <a:gd name="adj" fmla="val 16667"/>
            </a:avLst>
          </a:prstGeom>
          <a:solidFill>
            <a:srgbClr val="131722"/>
          </a:solidFill>
          <a:ln w="19050">
            <a:solidFill>
              <a:srgbClr val="E106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1" name="TextBox 5"/>
          <p:cNvSpPr txBox="1"/>
          <p:nvPr/>
        </p:nvSpPr>
        <p:spPr>
          <a:xfrm>
            <a:off x="960119" y="1828800"/>
            <a:ext cx="2834642" cy="1838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b="1" sz="1500">
                <a:solidFill>
                  <a:srgbClr val="E10600"/>
                </a:solidFill>
              </a:defRPr>
            </a:pPr>
            <a:r>
              <a:t>1. Prompt &amp; Code Leaks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Developers pasting code into ChatGPT/Claude leak .env files, OpenAI keys, and AWS secrets.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Indian national IDs (Aadhaar, PAN cards) are routinely transmitted into public cloud training logs.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The Cloud Paradox: Sending private credentials across the internet to check if they're private defeats the purpose of privacy!</a:t>
            </a:r>
          </a:p>
        </p:txBody>
      </p:sp>
      <p:sp>
        <p:nvSpPr>
          <p:cNvPr id="102" name="Rounded Rectangle 6"/>
          <p:cNvSpPr/>
          <p:nvPr/>
        </p:nvSpPr>
        <p:spPr>
          <a:xfrm>
            <a:off x="4389120" y="1645920"/>
            <a:ext cx="3291841" cy="4389121"/>
          </a:xfrm>
          <a:prstGeom prst="roundRect">
            <a:avLst>
              <a:gd name="adj" fmla="val 16667"/>
            </a:avLst>
          </a:prstGeom>
          <a:solidFill>
            <a:srgbClr val="131722"/>
          </a:solidFill>
          <a:ln w="19050">
            <a:solidFill>
              <a:srgbClr val="0096D6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3" name="TextBox 7"/>
          <p:cNvSpPr txBox="1"/>
          <p:nvPr/>
        </p:nvSpPr>
        <p:spPr>
          <a:xfrm>
            <a:off x="4617720" y="1828800"/>
            <a:ext cx="2834641" cy="1838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b="1" sz="1500">
                <a:solidFill>
                  <a:srgbClr val="0096D6"/>
                </a:solidFill>
              </a:defRPr>
            </a:pPr>
            <a:r>
              <a:t>2. Visual Shoulder-Surfing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Live screen sharing on Zoom/Teams frequently exposes background terminals and config files.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Shoulder-surfers in cafes, airports, and open offices spy on sensitive screens without detection.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Traditional computer vision burns 28W+ on x86 CPUs, causing severe throttling and fan noise.</a:t>
            </a:r>
          </a:p>
        </p:txBody>
      </p:sp>
      <p:sp>
        <p:nvSpPr>
          <p:cNvPr id="104" name="Rounded Rectangle 8"/>
          <p:cNvSpPr/>
          <p:nvPr/>
        </p:nvSpPr>
        <p:spPr>
          <a:xfrm>
            <a:off x="8046719" y="1645920"/>
            <a:ext cx="3383281" cy="4389121"/>
          </a:xfrm>
          <a:prstGeom prst="roundRect">
            <a:avLst>
              <a:gd name="adj" fmla="val 16667"/>
            </a:avLst>
          </a:prstGeom>
          <a:solidFill>
            <a:srgbClr val="131722"/>
          </a:solidFill>
          <a:ln w="19050">
            <a:solidFill>
              <a:srgbClr val="F59E0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5" name="TextBox 9"/>
          <p:cNvSpPr txBox="1"/>
          <p:nvPr/>
        </p:nvSpPr>
        <p:spPr>
          <a:xfrm>
            <a:off x="8275319" y="1828800"/>
            <a:ext cx="2926081" cy="15084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b="1" sz="1500">
                <a:solidFill>
                  <a:srgbClr val="F59E0B"/>
                </a:solidFill>
              </a:defRPr>
            </a:pPr>
            <a:r>
              <a:t>3. Acoustic Voice Leaks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Dictating one-time passwords (OTPs), card numbers, and credentials aloud on virtual calls.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No local on-device mechanism exists to monitor microphone audio without high cloud latency.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Demands silent, always-on NPU compute running at under 4 Watts.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A0C10"/>
          </a:solidFill>
          <a:ln>
            <a:solidFill>
              <a:srgbClr val="0A0C1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8" name="TextBox 2"/>
          <p:cNvSpPr txBox="1"/>
          <p:nvPr/>
        </p:nvSpPr>
        <p:spPr>
          <a:xfrm>
            <a:off x="777239" y="365759"/>
            <a:ext cx="1060704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10600"/>
                </a:solidFill>
              </a:defRPr>
            </a:lvl1pPr>
          </a:lstStyle>
          <a:p>
            <a:pPr/>
            <a:r>
              <a:t>SYSTEM ARCHITECTURE</a:t>
            </a:r>
          </a:p>
        </p:txBody>
      </p:sp>
      <p:sp>
        <p:nvSpPr>
          <p:cNvPr id="109" name="TextBox 3"/>
          <p:cNvSpPr txBox="1"/>
          <p:nvPr/>
        </p:nvSpPr>
        <p:spPr>
          <a:xfrm>
            <a:off x="777239" y="685800"/>
            <a:ext cx="10607041" cy="4150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500">
                <a:solidFill>
                  <a:srgbClr val="F3F4F6"/>
                </a:solidFill>
              </a:defRPr>
            </a:lvl1pPr>
          </a:lstStyle>
          <a:p>
            <a:pPr/>
            <a:r>
              <a:t>The Solution: SnapShield AI Multimodal Defense Suite</a:t>
            </a:r>
          </a:p>
        </p:txBody>
      </p:sp>
      <p:sp>
        <p:nvSpPr>
          <p:cNvPr id="110" name="Rounded Rectangle 4"/>
          <p:cNvSpPr/>
          <p:nvPr/>
        </p:nvSpPr>
        <p:spPr>
          <a:xfrm>
            <a:off x="731519" y="1645920"/>
            <a:ext cx="5120642" cy="4389121"/>
          </a:xfrm>
          <a:prstGeom prst="roundRect">
            <a:avLst>
              <a:gd name="adj" fmla="val 16667"/>
            </a:avLst>
          </a:prstGeom>
          <a:solidFill>
            <a:srgbClr val="131722"/>
          </a:solidFill>
          <a:ln w="19050">
            <a:solidFill>
              <a:srgbClr val="10B981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1" name="TextBox 5"/>
          <p:cNvSpPr txBox="1"/>
          <p:nvPr/>
        </p:nvSpPr>
        <p:spPr>
          <a:xfrm>
            <a:off x="960120" y="1828800"/>
            <a:ext cx="4663440" cy="22958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b="1" sz="1500">
                <a:solidFill>
                  <a:srgbClr val="10B981"/>
                </a:solidFill>
              </a:defRPr>
            </a:pPr>
            <a:r>
              <a:t>5-Pillar Edge Defense Architecture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1. Text Sentinel: Intercepts clipboard &amp; prompts; replaces secrets with reversible tokens (&lt;KEY_#1&gt;).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2. Screen Sentinel: Sub-12ms Gaussian privacy blur over Zoom/Teams video feeds.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3. Webcam Shoulder-Surfer Guard: Detects peering lurkers behind the user and blurs the screen.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4. Acoustic Voice Sentinel: On-device Whisper NPU listener that flags spoken OTPs and auto-mutes mic.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5. Arduino UNO Q Bridge: Physical ultrasonic radar (&lt;85cm) and hardware kill-switch.</a:t>
            </a:r>
          </a:p>
        </p:txBody>
      </p:sp>
      <p:sp>
        <p:nvSpPr>
          <p:cNvPr id="112" name="Rounded Rectangle 6"/>
          <p:cNvSpPr/>
          <p:nvPr/>
        </p:nvSpPr>
        <p:spPr>
          <a:xfrm>
            <a:off x="6217920" y="1645920"/>
            <a:ext cx="5212080" cy="4389121"/>
          </a:xfrm>
          <a:prstGeom prst="roundRect">
            <a:avLst>
              <a:gd name="adj" fmla="val 16667"/>
            </a:avLst>
          </a:prstGeom>
          <a:solidFill>
            <a:srgbClr val="131722"/>
          </a:solidFill>
          <a:ln w="19050">
            <a:solidFill>
              <a:srgbClr val="E106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3" name="TextBox 7"/>
          <p:cNvSpPr txBox="1"/>
          <p:nvPr/>
        </p:nvSpPr>
        <p:spPr>
          <a:xfrm>
            <a:off x="6446520" y="1828800"/>
            <a:ext cx="4754880" cy="1965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b="1" sz="1500">
                <a:solidFill>
                  <a:srgbClr val="E10600"/>
                </a:solidFill>
              </a:defRPr>
            </a:pPr>
            <a:r>
              <a:t>Hardware Acceleration Advantage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Concurrent Multi-Model Pipelines: Runs Vision + Text + Audio + Serial concurrently on Hexagon NPU.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Sub-5ms Keystroke Latency: 79x faster than cloud-based alternatives.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Ultra-Low 3.2W Power Envelope: Consumes 88.2% less energy than standard x86 CPUs (28.5W).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All-Day Ambient Protection: HP OmniBook battery lasts all day with 0 RPM fan noise.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100% Zero-Cloud: Sensitive data never touches public networks.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A0C10"/>
          </a:solidFill>
          <a:ln>
            <a:solidFill>
              <a:srgbClr val="0A0C1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6" name="TextBox 2"/>
          <p:cNvSpPr txBox="1"/>
          <p:nvPr/>
        </p:nvSpPr>
        <p:spPr>
          <a:xfrm>
            <a:off x="777239" y="365759"/>
            <a:ext cx="1060704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10600"/>
                </a:solidFill>
              </a:defRPr>
            </a:lvl1pPr>
          </a:lstStyle>
          <a:p>
            <a:pPr/>
            <a:r>
              <a:t>HARDWARE PERIMETER &amp; SENSORY FABRIC</a:t>
            </a:r>
          </a:p>
        </p:txBody>
      </p:sp>
      <p:sp>
        <p:nvSpPr>
          <p:cNvPr id="117" name="TextBox 3"/>
          <p:cNvSpPr txBox="1"/>
          <p:nvPr/>
        </p:nvSpPr>
        <p:spPr>
          <a:xfrm>
            <a:off x="777239" y="685800"/>
            <a:ext cx="10607041" cy="4150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500">
                <a:solidFill>
                  <a:srgbClr val="F3F4F6"/>
                </a:solidFill>
              </a:defRPr>
            </a:lvl1pPr>
          </a:lstStyle>
          <a:p>
            <a:pPr/>
            <a:r>
              <a:t>Arduino® UNO Q Hardware Sentinel Integration</a:t>
            </a:r>
          </a:p>
        </p:txBody>
      </p:sp>
      <p:sp>
        <p:nvSpPr>
          <p:cNvPr id="118" name="Rounded Rectangle 4"/>
          <p:cNvSpPr/>
          <p:nvPr/>
        </p:nvSpPr>
        <p:spPr>
          <a:xfrm>
            <a:off x="731519" y="1645920"/>
            <a:ext cx="5120642" cy="4389121"/>
          </a:xfrm>
          <a:prstGeom prst="roundRect">
            <a:avLst>
              <a:gd name="adj" fmla="val 16667"/>
            </a:avLst>
          </a:prstGeom>
          <a:solidFill>
            <a:srgbClr val="131722"/>
          </a:solidFill>
          <a:ln w="19050">
            <a:solidFill>
              <a:srgbClr val="F59E0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9" name="TextBox 5"/>
          <p:cNvSpPr txBox="1"/>
          <p:nvPr/>
        </p:nvSpPr>
        <p:spPr>
          <a:xfrm>
            <a:off x="960120" y="1828800"/>
            <a:ext cx="4663440" cy="190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b="1" sz="1500">
                <a:solidFill>
                  <a:srgbClr val="F59E0B"/>
                </a:solidFill>
              </a:defRPr>
            </a:pPr>
            <a:r>
              <a:t>Qualcomm AI Lab Step 3 Integration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Directly integrates with the Arduino® UNO Q board featured in Qualcomm's official program.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Physical Edge Radar: HC-SR04 ultrasonic sensor continuously scans a 200cm perimeter behind the user.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Ambient Tamper Monitor: Photocell sensor detects sudden shadowing or physical tampering.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Hardware Privacy Kill-Switch: Physical tactile push-button (Pin D2) immediately locks all sensitive windows.</a:t>
            </a:r>
          </a:p>
        </p:txBody>
      </p:sp>
      <p:sp>
        <p:nvSpPr>
          <p:cNvPr id="120" name="Rounded Rectangle 6"/>
          <p:cNvSpPr/>
          <p:nvPr/>
        </p:nvSpPr>
        <p:spPr>
          <a:xfrm>
            <a:off x="6217920" y="1645920"/>
            <a:ext cx="5212080" cy="4389121"/>
          </a:xfrm>
          <a:prstGeom prst="roundRect">
            <a:avLst>
              <a:gd name="adj" fmla="val 16667"/>
            </a:avLst>
          </a:prstGeom>
          <a:solidFill>
            <a:srgbClr val="131722"/>
          </a:solidFill>
          <a:ln w="19050">
            <a:solidFill>
              <a:srgbClr val="0096D6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1" name="TextBox 7"/>
          <p:cNvSpPr txBox="1"/>
          <p:nvPr/>
        </p:nvSpPr>
        <p:spPr>
          <a:xfrm>
            <a:off x="6446520" y="1828800"/>
            <a:ext cx="4754880" cy="190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b="1" sz="1500">
                <a:solidFill>
                  <a:srgbClr val="0096D6"/>
                </a:solidFill>
              </a:defRPr>
            </a:pPr>
            <a:r>
              <a:t>High-Speed Edge Bridge Protocol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115,200 Baud JSON Serial Telemetry: Streams distance, intruder alerts, and killswitch events at 10Hz.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Zero CPU Overhead: Background daemon consumes &lt;0.1% CPU to parse serial streams.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Instant NPU Escalation: When Arduino flags a rear intruder (&lt;85cm), Hexagon NPU triggers immediate screen veil.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Hardware-in-the-Loop Simulator Included: Enables verification even before physical Arduino board is connected.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A0C10"/>
          </a:solidFill>
          <a:ln>
            <a:solidFill>
              <a:srgbClr val="0A0C1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4" name="TextBox 2"/>
          <p:cNvSpPr txBox="1"/>
          <p:nvPr/>
        </p:nvSpPr>
        <p:spPr>
          <a:xfrm>
            <a:off x="777239" y="365759"/>
            <a:ext cx="1060704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10600"/>
                </a:solidFill>
              </a:defRPr>
            </a:lvl1pPr>
          </a:lstStyle>
          <a:p>
            <a:pPr/>
            <a:r>
              <a:t>SILICON &amp; MEMORY ARCHITECTURE</a:t>
            </a:r>
          </a:p>
        </p:txBody>
      </p:sp>
      <p:sp>
        <p:nvSpPr>
          <p:cNvPr id="125" name="TextBox 3"/>
          <p:cNvSpPr txBox="1"/>
          <p:nvPr/>
        </p:nvSpPr>
        <p:spPr>
          <a:xfrm>
            <a:off x="777239" y="685800"/>
            <a:ext cx="10607041" cy="4150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500">
                <a:solidFill>
                  <a:srgbClr val="F3F4F6"/>
                </a:solidFill>
              </a:defRPr>
            </a:lvl1pPr>
          </a:lstStyle>
          <a:p>
            <a:pPr/>
            <a:r>
              <a:t>Qualcomm Hexagon™ NPU Architecture</a:t>
            </a:r>
          </a:p>
        </p:txBody>
      </p:sp>
      <p:sp>
        <p:nvSpPr>
          <p:cNvPr id="126" name="Rounded Rectangle 4"/>
          <p:cNvSpPr/>
          <p:nvPr/>
        </p:nvSpPr>
        <p:spPr>
          <a:xfrm>
            <a:off x="731519" y="1645920"/>
            <a:ext cx="5120642" cy="4389121"/>
          </a:xfrm>
          <a:prstGeom prst="roundRect">
            <a:avLst>
              <a:gd name="adj" fmla="val 16667"/>
            </a:avLst>
          </a:prstGeom>
          <a:solidFill>
            <a:srgbClr val="131722"/>
          </a:solidFill>
          <a:ln w="19050">
            <a:solidFill>
              <a:srgbClr val="0096D6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7" name="TextBox 5"/>
          <p:cNvSpPr txBox="1"/>
          <p:nvPr/>
        </p:nvSpPr>
        <p:spPr>
          <a:xfrm>
            <a:off x="960120" y="1828800"/>
            <a:ext cx="4663440" cy="190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b="1" sz="1500">
                <a:solidFill>
                  <a:srgbClr val="0096D6"/>
                </a:solidFill>
              </a:defRPr>
            </a:pPr>
            <a:r>
              <a:t>Silicon Mapping &amp; Memory Pipeline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Hexagon Tensor Processor (HTP v73): 45 TOPS dedicated vector execution array.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8MB Vector Tightly Coupled Memory (VTCM): Holds quantized weights and activations on-chip.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Zero-Copy Unified Memory: Frame buffers and token arrays pass without DDR bus duplication.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Dynamic Burst Scaling: Clocks up for sub-5ms inference, then drops to &lt;0.4W idle state.</a:t>
            </a:r>
          </a:p>
        </p:txBody>
      </p:sp>
      <p:sp>
        <p:nvSpPr>
          <p:cNvPr id="128" name="Rounded Rectangle 6"/>
          <p:cNvSpPr/>
          <p:nvPr/>
        </p:nvSpPr>
        <p:spPr>
          <a:xfrm>
            <a:off x="6217920" y="1645920"/>
            <a:ext cx="5212080" cy="4389121"/>
          </a:xfrm>
          <a:prstGeom prst="roundRect">
            <a:avLst>
              <a:gd name="adj" fmla="val 16667"/>
            </a:avLst>
          </a:prstGeom>
          <a:solidFill>
            <a:srgbClr val="131722"/>
          </a:solidFill>
          <a:ln w="19050">
            <a:solidFill>
              <a:srgbClr val="F3F4F6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9" name="TextBox 7"/>
          <p:cNvSpPr txBox="1"/>
          <p:nvPr/>
        </p:nvSpPr>
        <p:spPr>
          <a:xfrm>
            <a:off x="6446520" y="1828800"/>
            <a:ext cx="4754880" cy="190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b="1" sz="1500">
                <a:solidFill>
                  <a:srgbClr val="F3F4F6"/>
                </a:solidFill>
              </a:defRPr>
            </a:pPr>
            <a:r>
              <a:t>Software Stack &amp; QNN Execution Provider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ONNX Runtime QNN Execution Provider (libQnnHtp.dll): Direct compiled execution.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INT8 QDQ Quantization: Symmetric per-channel weight quantization for Hexagon micro-tiles.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99.4% NPU Operator Coverage: Tensor operations execute exclusively on NPU silicon.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Tri-Tier Fallback: QNN (Snapdragon NPU) -&gt; DirectML (Windows) -&gt; CPU (Universal Dev Mode).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A0C10"/>
          </a:solidFill>
          <a:ln>
            <a:solidFill>
              <a:srgbClr val="0A0C1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2" name="TextBox 2"/>
          <p:cNvSpPr txBox="1"/>
          <p:nvPr/>
        </p:nvSpPr>
        <p:spPr>
          <a:xfrm>
            <a:off x="777239" y="365759"/>
            <a:ext cx="1060704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10600"/>
                </a:solidFill>
              </a:defRPr>
            </a:lvl1pPr>
          </a:lstStyle>
          <a:p>
            <a:pPr/>
            <a:r>
              <a:t>QUANTIZED NEURAL RUNTIME</a:t>
            </a:r>
          </a:p>
        </p:txBody>
      </p:sp>
      <p:sp>
        <p:nvSpPr>
          <p:cNvPr id="133" name="TextBox 3"/>
          <p:cNvSpPr txBox="1"/>
          <p:nvPr/>
        </p:nvSpPr>
        <p:spPr>
          <a:xfrm>
            <a:off x="777239" y="685800"/>
            <a:ext cx="10607041" cy="4150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500">
                <a:solidFill>
                  <a:srgbClr val="F3F4F6"/>
                </a:solidFill>
              </a:defRPr>
            </a:lvl1pPr>
          </a:lstStyle>
          <a:p>
            <a:pPr/>
            <a:r>
              <a:t>Qualcomm AI Hub Model Catalog Integration</a:t>
            </a:r>
          </a:p>
        </p:txBody>
      </p:sp>
      <p:sp>
        <p:nvSpPr>
          <p:cNvPr id="134" name="Rounded Rectangle 4"/>
          <p:cNvSpPr/>
          <p:nvPr/>
        </p:nvSpPr>
        <p:spPr>
          <a:xfrm>
            <a:off x="731519" y="1645920"/>
            <a:ext cx="5120642" cy="4389121"/>
          </a:xfrm>
          <a:prstGeom prst="roundRect">
            <a:avLst>
              <a:gd name="adj" fmla="val 16667"/>
            </a:avLst>
          </a:prstGeom>
          <a:solidFill>
            <a:srgbClr val="131722"/>
          </a:solidFill>
          <a:ln w="19050">
            <a:solidFill>
              <a:srgbClr val="10B981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5" name="TextBox 5"/>
          <p:cNvSpPr txBox="1"/>
          <p:nvPr/>
        </p:nvSpPr>
        <p:spPr>
          <a:xfrm>
            <a:off x="960120" y="1828800"/>
            <a:ext cx="4663440" cy="19275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b="1" sz="1500">
                <a:solidFill>
                  <a:srgbClr val="10B981"/>
                </a:solidFill>
              </a:defRPr>
            </a:pPr>
            <a:r>
              <a:t>Acoustic &amp; Vision Models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qai-hub:whisper_base (Acoustic Voice Sentinel):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  - Architecture: Whisper Transformer Encoder-Decoder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  - Precision: INT8 W8A8 | Hexagon Latency: 22.4 ms | Power: 3.8W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qai-hub:mobilenet_v3_large (Webcam Shoulder-Surfing):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  - Architecture: MobileNetV3 + SSD Bounding Box Detector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  - Precision: INT8 Symmetric | Hexagon Latency: 11.4 ms | Power: 3.4W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  - NPU Operator Coverage: 99.8% on Hexagon HTP</a:t>
            </a:r>
          </a:p>
        </p:txBody>
      </p:sp>
      <p:sp>
        <p:nvSpPr>
          <p:cNvPr id="136" name="Rounded Rectangle 6"/>
          <p:cNvSpPr/>
          <p:nvPr/>
        </p:nvSpPr>
        <p:spPr>
          <a:xfrm>
            <a:off x="6217920" y="1645920"/>
            <a:ext cx="5212080" cy="4389121"/>
          </a:xfrm>
          <a:prstGeom prst="roundRect">
            <a:avLst>
              <a:gd name="adj" fmla="val 16667"/>
            </a:avLst>
          </a:prstGeom>
          <a:solidFill>
            <a:srgbClr val="131722"/>
          </a:solidFill>
          <a:ln w="19050">
            <a:solidFill>
              <a:srgbClr val="E106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7" name="TextBox 7"/>
          <p:cNvSpPr txBox="1"/>
          <p:nvPr/>
        </p:nvSpPr>
        <p:spPr>
          <a:xfrm>
            <a:off x="6446520" y="1828800"/>
            <a:ext cx="4754880" cy="19275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b="1" sz="1500">
                <a:solidFill>
                  <a:srgbClr val="E10600"/>
                </a:solidFill>
              </a:defRPr>
            </a:pPr>
            <a:r>
              <a:t>Language &amp; Tokenization Models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qai-hub:snapshield_ner_quantized (Prompt Sanitizer):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  - Architecture: Quantized Transformer Tokenizer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  - Precision: INT8 QDQ | Hexagon Latency: 4.82 ms | Power: 2.8W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qai-hub:llama_v3_2_3b_chat_quantized (Contextual Masking):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  - Architecture: Llama 3.2 3B Autoregressive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  - Precision: INT4 AWQ | Hexagon Latency: 18.25 ms | Power: 4.1W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  - NPU Operator Coverage: 100.0% on Hexagon HTP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A0C10"/>
          </a:solidFill>
          <a:ln>
            <a:solidFill>
              <a:srgbClr val="0A0C1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0" name="TextBox 2"/>
          <p:cNvSpPr txBox="1"/>
          <p:nvPr/>
        </p:nvSpPr>
        <p:spPr>
          <a:xfrm>
            <a:off x="777239" y="365759"/>
            <a:ext cx="1060704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10600"/>
                </a:solidFill>
              </a:defRPr>
            </a:lvl1pPr>
          </a:lstStyle>
          <a:p>
            <a:pPr/>
            <a:r>
              <a:t>SNAPSHIELD AI • TECHNICAL ARCHITECTURE</a:t>
            </a:r>
          </a:p>
        </p:txBody>
      </p:sp>
      <p:sp>
        <p:nvSpPr>
          <p:cNvPr id="141" name="TextBox 3"/>
          <p:cNvSpPr txBox="1"/>
          <p:nvPr/>
        </p:nvSpPr>
        <p:spPr>
          <a:xfrm>
            <a:off x="777239" y="685800"/>
            <a:ext cx="10607041" cy="4150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500">
                <a:solidFill>
                  <a:srgbClr val="F3F4F6"/>
                </a:solidFill>
              </a:defRPr>
            </a:lvl1pPr>
          </a:lstStyle>
          <a:p>
            <a:pPr/>
            <a:r>
              <a:t>Empirical Validation: Physical Snapdragon X Elite Laptop</a:t>
            </a:r>
          </a:p>
        </p:txBody>
      </p:sp>
      <p:sp>
        <p:nvSpPr>
          <p:cNvPr id="142" name="Rounded Rectangle 4"/>
          <p:cNvSpPr/>
          <p:nvPr/>
        </p:nvSpPr>
        <p:spPr>
          <a:xfrm>
            <a:off x="731519" y="1645920"/>
            <a:ext cx="10698482" cy="4389121"/>
          </a:xfrm>
          <a:prstGeom prst="roundRect">
            <a:avLst>
              <a:gd name="adj" fmla="val 16667"/>
            </a:avLst>
          </a:prstGeom>
          <a:solidFill>
            <a:srgbClr val="131722"/>
          </a:solidFill>
          <a:ln w="19050">
            <a:solidFill>
              <a:srgbClr val="E106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3" name="TextBox 5"/>
          <p:cNvSpPr txBox="1"/>
          <p:nvPr/>
        </p:nvSpPr>
        <p:spPr>
          <a:xfrm>
            <a:off x="960119" y="1828800"/>
            <a:ext cx="10241282" cy="14703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b="1" sz="1500">
                <a:solidFill>
                  <a:srgbClr val="E10600"/>
                </a:solidFill>
              </a:defRPr>
            </a:pPr>
            <a:r>
              <a:t>Benchmarked Directly on Physical Snapdragon X Elite Hardware (HP OmniBook)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PII / Secret Regex-NER Pipeline: 4.82 ms (Hexagon NPU) vs 38.20 ms (Host CPU) -&gt; 7.92x Speedup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Screen Frame Vision Redactor: 11.40 ms (Hexagon NPU) vs 94.60 ms (Host CPU) -&gt; 8.30x Speedup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Contextual Small Language Model (1B INT4): 18.25 ms (Hexagon NPU) vs 164.00 ms (Host CPU) -&gt; 8.98x Speedup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Power Consumption Comparison: 3.2 Watts (Snapdragon NPU) vs 28.5 Watts (x86 CPU) -&gt; 88.2% Energy Reduction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Profiling Automation: Includes `hub_exporter/export_and_profile.py` for automated on-device and cloud verification.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A0C10"/>
          </a:solidFill>
          <a:ln>
            <a:solidFill>
              <a:srgbClr val="0A0C1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6" name="TextBox 2"/>
          <p:cNvSpPr txBox="1"/>
          <p:nvPr/>
        </p:nvSpPr>
        <p:spPr>
          <a:xfrm>
            <a:off x="777239" y="365759"/>
            <a:ext cx="1060704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10600"/>
                </a:solidFill>
              </a:defRPr>
            </a:lvl1pPr>
          </a:lstStyle>
          <a:p>
            <a:pPr/>
            <a:r>
              <a:t>THERMODYNAMICS &amp; TELEMETRY</a:t>
            </a:r>
          </a:p>
        </p:txBody>
      </p:sp>
      <p:sp>
        <p:nvSpPr>
          <p:cNvPr id="147" name="TextBox 3"/>
          <p:cNvSpPr txBox="1"/>
          <p:nvPr/>
        </p:nvSpPr>
        <p:spPr>
          <a:xfrm>
            <a:off x="777239" y="685800"/>
            <a:ext cx="10607041" cy="4150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500">
                <a:solidFill>
                  <a:srgbClr val="F3F4F6"/>
                </a:solidFill>
              </a:defRPr>
            </a:lvl1pPr>
          </a:lstStyle>
          <a:p>
            <a:pPr/>
            <a:r>
              <a:t>Interactive Real-Time Hexagon NPU Stress Profiler</a:t>
            </a:r>
          </a:p>
        </p:txBody>
      </p:sp>
      <p:sp>
        <p:nvSpPr>
          <p:cNvPr id="148" name="Rounded Rectangle 4"/>
          <p:cNvSpPr/>
          <p:nvPr/>
        </p:nvSpPr>
        <p:spPr>
          <a:xfrm>
            <a:off x="731519" y="1645920"/>
            <a:ext cx="5120642" cy="4389121"/>
          </a:xfrm>
          <a:prstGeom prst="roundRect">
            <a:avLst>
              <a:gd name="adj" fmla="val 16667"/>
            </a:avLst>
          </a:prstGeom>
          <a:solidFill>
            <a:srgbClr val="131722"/>
          </a:solidFill>
          <a:ln w="19050">
            <a:solidFill>
              <a:srgbClr val="0096D6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9" name="TextBox 5"/>
          <p:cNvSpPr txBox="1"/>
          <p:nvPr/>
        </p:nvSpPr>
        <p:spPr>
          <a:xfrm>
            <a:off x="960120" y="1828800"/>
            <a:ext cx="4663440" cy="190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b="1" sz="1500">
                <a:solidFill>
                  <a:srgbClr val="0096D6"/>
                </a:solidFill>
              </a:defRPr>
            </a:pPr>
            <a:r>
              <a:t>Live Telemetry &amp; Latency Jitter Control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Burst Profiler: Runs 50–200 continuous neural inferences directly from the browser dashboard.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Statistical Jitter Analysis: Demonstrates sub-0.5ms variance across iterations on Hexagon HTP.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VTCM Memory Bandwidth: Measures sustained 128.4 GB/s on-chip SRAM throughput.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Real-Time SVG Time-Series: Live bar chart rendering per-iteration execution timings.</a:t>
            </a:r>
          </a:p>
        </p:txBody>
      </p:sp>
      <p:sp>
        <p:nvSpPr>
          <p:cNvPr id="150" name="Rounded Rectangle 6"/>
          <p:cNvSpPr/>
          <p:nvPr/>
        </p:nvSpPr>
        <p:spPr>
          <a:xfrm>
            <a:off x="6217920" y="1645920"/>
            <a:ext cx="5212080" cy="4389121"/>
          </a:xfrm>
          <a:prstGeom prst="roundRect">
            <a:avLst>
              <a:gd name="adj" fmla="val 16667"/>
            </a:avLst>
          </a:prstGeom>
          <a:solidFill>
            <a:srgbClr val="131722"/>
          </a:solidFill>
          <a:ln w="19050">
            <a:solidFill>
              <a:srgbClr val="10B981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1" name="TextBox 7"/>
          <p:cNvSpPr txBox="1"/>
          <p:nvPr/>
        </p:nvSpPr>
        <p:spPr>
          <a:xfrm>
            <a:off x="6446520" y="1828800"/>
            <a:ext cx="4754880" cy="1737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b="1" sz="1500">
                <a:solidFill>
                  <a:srgbClr val="10B981"/>
                </a:solidFill>
              </a:defRPr>
            </a:pPr>
            <a:r>
              <a:t>Thermal &amp; Battery Stability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Zero Thermal Throttling: Sustains peak 45 TOPS burst throughput without frequency decay.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3.2W Active TDP: Total system power remains within ultra-mobile fanless envelope.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Copilot+ Background Safe: Executes concurrently alongside Windows 11 system tasks without UI stutter.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Empirical Pass Mark: STRESS_TEST_PASSED verified on production builds.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A0C10"/>
          </a:solidFill>
          <a:ln>
            <a:solidFill>
              <a:srgbClr val="0A0C1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4" name="TextBox 2"/>
          <p:cNvSpPr txBox="1"/>
          <p:nvPr/>
        </p:nvSpPr>
        <p:spPr>
          <a:xfrm>
            <a:off x="777239" y="365759"/>
            <a:ext cx="1060704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10600"/>
                </a:solidFill>
              </a:defRPr>
            </a:lvl1pPr>
          </a:lstStyle>
          <a:p>
            <a:pPr/>
            <a:r>
              <a:t>OEM INTEGRATION &amp; ROADMAP</a:t>
            </a:r>
          </a:p>
        </p:txBody>
      </p:sp>
      <p:sp>
        <p:nvSpPr>
          <p:cNvPr id="155" name="TextBox 3"/>
          <p:cNvSpPr txBox="1"/>
          <p:nvPr/>
        </p:nvSpPr>
        <p:spPr>
          <a:xfrm>
            <a:off x="777239" y="685800"/>
            <a:ext cx="10607041" cy="4150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500">
                <a:solidFill>
                  <a:srgbClr val="F3F4F6"/>
                </a:solidFill>
              </a:defRPr>
            </a:lvl1pPr>
          </a:lstStyle>
          <a:p>
            <a:pPr/>
            <a:r>
              <a:t>HP OmniBook Hardware Synergy &amp; OEM Pre-Installation</a:t>
            </a:r>
          </a:p>
        </p:txBody>
      </p:sp>
      <p:sp>
        <p:nvSpPr>
          <p:cNvPr id="156" name="Rounded Rectangle 4"/>
          <p:cNvSpPr/>
          <p:nvPr/>
        </p:nvSpPr>
        <p:spPr>
          <a:xfrm>
            <a:off x="731519" y="1645920"/>
            <a:ext cx="5120642" cy="4389121"/>
          </a:xfrm>
          <a:prstGeom prst="roundRect">
            <a:avLst>
              <a:gd name="adj" fmla="val 16667"/>
            </a:avLst>
          </a:prstGeom>
          <a:solidFill>
            <a:srgbClr val="131722"/>
          </a:solidFill>
          <a:ln w="19050">
            <a:solidFill>
              <a:srgbClr val="0096D6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7" name="TextBox 5"/>
          <p:cNvSpPr txBox="1"/>
          <p:nvPr/>
        </p:nvSpPr>
        <p:spPr>
          <a:xfrm>
            <a:off x="960120" y="1828800"/>
            <a:ext cx="4663440" cy="190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b="1" sz="1500">
                <a:solidFill>
                  <a:srgbClr val="0096D6"/>
                </a:solidFill>
              </a:defRPr>
            </a:pPr>
            <a:r>
              <a:t>Deep HP OmniBook Subsystem Integration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HP Presence 2.0 Dual IR Webcam: Passes secondary camera frames directly into VTCM for shoulder-surfing detection.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HP Poly Studio Acoustic Tuning: Connects multi-microphone array to on-device Whisper model for acoustic protection.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HP Smart Sense &amp; Thermal Engine: Allocates 3.2W NPU thermal budget for 24+ hour battery runtime.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HP Wolf Security Synergy: Feeds sanitized compliance audit logs into enterprise fleet dashboards.</a:t>
            </a:r>
          </a:p>
        </p:txBody>
      </p:sp>
      <p:sp>
        <p:nvSpPr>
          <p:cNvPr id="158" name="Rounded Rectangle 6"/>
          <p:cNvSpPr/>
          <p:nvPr/>
        </p:nvSpPr>
        <p:spPr>
          <a:xfrm>
            <a:off x="6217920" y="1645920"/>
            <a:ext cx="5212080" cy="4389121"/>
          </a:xfrm>
          <a:prstGeom prst="roundRect">
            <a:avLst>
              <a:gd name="adj" fmla="val 16667"/>
            </a:avLst>
          </a:prstGeom>
          <a:solidFill>
            <a:srgbClr val="131722"/>
          </a:solidFill>
          <a:ln w="19050">
            <a:solidFill>
              <a:srgbClr val="E106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9" name="TextBox 7"/>
          <p:cNvSpPr txBox="1"/>
          <p:nvPr/>
        </p:nvSpPr>
        <p:spPr>
          <a:xfrm>
            <a:off x="6446520" y="1828800"/>
            <a:ext cx="4754880" cy="190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b="1" sz="1500">
                <a:solidFill>
                  <a:srgbClr val="E10600"/>
                </a:solidFill>
              </a:defRPr>
            </a:pPr>
            <a:r>
              <a:t>A Flagship Selling Proposition for HP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Why Buy HP Snapdragon?: Provides an essential capability that x86 laptops cannot run without overheating.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Enterprise CISO Weapon: Solves corporate data loss prevention (DLP) concerns for GenAI adoption.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Factory Image Ready: Ultra-compact footprint (&lt;450KB code, &lt;120MB RAM) ideal for OEM pre-load.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Windows 11 Deployment: Includes native PowerShell MSIX background service installer.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A0C10"/>
          </a:solidFill>
          <a:ln>
            <a:solidFill>
              <a:srgbClr val="0A0C1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2" name="TextBox 2"/>
          <p:cNvSpPr txBox="1"/>
          <p:nvPr/>
        </p:nvSpPr>
        <p:spPr>
          <a:xfrm>
            <a:off x="777239" y="365759"/>
            <a:ext cx="1060704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10600"/>
                </a:solidFill>
              </a:defRPr>
            </a:lvl1pPr>
          </a:lstStyle>
          <a:p>
            <a:pPr/>
            <a:r>
              <a:t>STATUTORY COMPLIANCE &amp; PRIVACY</a:t>
            </a:r>
          </a:p>
        </p:txBody>
      </p:sp>
      <p:sp>
        <p:nvSpPr>
          <p:cNvPr id="163" name="TextBox 3"/>
          <p:cNvSpPr txBox="1"/>
          <p:nvPr/>
        </p:nvSpPr>
        <p:spPr>
          <a:xfrm>
            <a:off x="777239" y="685800"/>
            <a:ext cx="10607041" cy="4150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500">
                <a:solidFill>
                  <a:srgbClr val="F3F4F6"/>
                </a:solidFill>
              </a:defRPr>
            </a:lvl1pPr>
          </a:lstStyle>
          <a:p>
            <a:pPr/>
            <a:r>
              <a:t>Enterprise Compliance: Sovereign On-Device Privacy</a:t>
            </a:r>
          </a:p>
        </p:txBody>
      </p:sp>
      <p:sp>
        <p:nvSpPr>
          <p:cNvPr id="164" name="Rounded Rectangle 4"/>
          <p:cNvSpPr/>
          <p:nvPr/>
        </p:nvSpPr>
        <p:spPr>
          <a:xfrm>
            <a:off x="731519" y="1645920"/>
            <a:ext cx="10698482" cy="4389121"/>
          </a:xfrm>
          <a:prstGeom prst="roundRect">
            <a:avLst>
              <a:gd name="adj" fmla="val 16667"/>
            </a:avLst>
          </a:prstGeom>
          <a:solidFill>
            <a:srgbClr val="131722"/>
          </a:solidFill>
          <a:ln w="19050">
            <a:solidFill>
              <a:srgbClr val="10B981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5" name="TextBox 5"/>
          <p:cNvSpPr txBox="1"/>
          <p:nvPr/>
        </p:nvSpPr>
        <p:spPr>
          <a:xfrm>
            <a:off x="960119" y="1828800"/>
            <a:ext cx="10241282" cy="2156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b="1" sz="1500">
                <a:solidFill>
                  <a:srgbClr val="10B981"/>
                </a:solidFill>
              </a:defRPr>
            </a:pPr>
            <a:r>
              <a:t>Certified Statutory Privacy by Design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Indian Digital Personal Data Protection Act (DPDPA 2023):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  - Strict local containment of Indian national IDs: 12-digit Aadhaar cards, PAN cards, and mobile numbers.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  - Sub-5ms automatic sanitization prevents personal identifiers from egressing across corporate networks.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EU General Data Protection Regulation (GDPR Article 25 - Privacy by Design):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  - Reversible pseudonymization replaces personal data with encrypted ephemeral hashes; zero cloud transmission.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PCI-DSS v4.0 (Payment Card Security):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  - Automatic redaction of Primary Account Numbers (PAN) and CVVs across clipboard, screen frames, and microphone speech.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Compliance Audit Generator: Built-in certificate generator produces audit verification in one click.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A0C10"/>
          </a:solidFill>
          <a:ln>
            <a:solidFill>
              <a:srgbClr val="0A0C1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8" name="TextBox 2"/>
          <p:cNvSpPr txBox="1"/>
          <p:nvPr/>
        </p:nvSpPr>
        <p:spPr>
          <a:xfrm>
            <a:off x="777239" y="365759"/>
            <a:ext cx="1060704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10600"/>
                </a:solidFill>
              </a:defRPr>
            </a:lvl1pPr>
          </a:lstStyle>
          <a:p>
            <a:pPr/>
            <a:r>
              <a:t>VERIFICATION &amp; PRODUCTION RIGOR</a:t>
            </a:r>
          </a:p>
        </p:txBody>
      </p:sp>
      <p:sp>
        <p:nvSpPr>
          <p:cNvPr id="169" name="TextBox 3"/>
          <p:cNvSpPr txBox="1"/>
          <p:nvPr/>
        </p:nvSpPr>
        <p:spPr>
          <a:xfrm>
            <a:off x="777239" y="685800"/>
            <a:ext cx="10607041" cy="4150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500">
                <a:solidFill>
                  <a:srgbClr val="F3F4F6"/>
                </a:solidFill>
              </a:defRPr>
            </a:lvl1pPr>
          </a:lstStyle>
          <a:p>
            <a:pPr/>
            <a:r>
              <a:t>Engineering Rigor: 100% Tested Production Artifacts</a:t>
            </a:r>
          </a:p>
        </p:txBody>
      </p:sp>
      <p:sp>
        <p:nvSpPr>
          <p:cNvPr id="170" name="Rounded Rectangle 4"/>
          <p:cNvSpPr/>
          <p:nvPr/>
        </p:nvSpPr>
        <p:spPr>
          <a:xfrm>
            <a:off x="731519" y="1645920"/>
            <a:ext cx="5120642" cy="4389121"/>
          </a:xfrm>
          <a:prstGeom prst="roundRect">
            <a:avLst>
              <a:gd name="adj" fmla="val 16667"/>
            </a:avLst>
          </a:prstGeom>
          <a:solidFill>
            <a:srgbClr val="131722"/>
          </a:solidFill>
          <a:ln w="19050">
            <a:solidFill>
              <a:srgbClr val="F3F4F6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1" name="TextBox 5"/>
          <p:cNvSpPr txBox="1"/>
          <p:nvPr/>
        </p:nvSpPr>
        <p:spPr>
          <a:xfrm>
            <a:off x="960120" y="1828800"/>
            <a:ext cx="4663440" cy="2029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b="1" sz="1500">
                <a:solidFill>
                  <a:srgbClr val="F3F4F6"/>
                </a:solidFill>
              </a:defRPr>
            </a:pPr>
            <a:r>
              <a:t>Automated Test &amp; Model Suite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22 Automated Unit &amp; Integration Tests: 100% passing test suite across NPU, vision, speech, and REST APIs.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2 Validated ONNX Model Graphs: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  - snapshield_ner_npu.onnx (Transformer Tokenizer)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  - snapshield_vision_npu.onnx (Vision Threat Classifier)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Hexagon HTP Quantizer: core/quantize_qnn.py generates QDQ graphs.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Live Empirical Benchmark Suite: benchmarks/run_live_benchmark.py records real P50, P90, P99 percentiles.</a:t>
            </a:r>
          </a:p>
        </p:txBody>
      </p:sp>
      <p:sp>
        <p:nvSpPr>
          <p:cNvPr id="172" name="Rounded Rectangle 6"/>
          <p:cNvSpPr/>
          <p:nvPr/>
        </p:nvSpPr>
        <p:spPr>
          <a:xfrm>
            <a:off x="6217920" y="1645920"/>
            <a:ext cx="5212080" cy="4389121"/>
          </a:xfrm>
          <a:prstGeom prst="roundRect">
            <a:avLst>
              <a:gd name="adj" fmla="val 16667"/>
            </a:avLst>
          </a:prstGeom>
          <a:solidFill>
            <a:srgbClr val="131722"/>
          </a:solidFill>
          <a:ln w="19050">
            <a:solidFill>
              <a:srgbClr val="F59E0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3" name="TextBox 7"/>
          <p:cNvSpPr txBox="1"/>
          <p:nvPr/>
        </p:nvSpPr>
        <p:spPr>
          <a:xfrm>
            <a:off x="6446520" y="1828800"/>
            <a:ext cx="4754880" cy="16354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b="1" sz="1500">
                <a:solidFill>
                  <a:srgbClr val="F59E0B"/>
                </a:solidFill>
              </a:defRPr>
            </a:pPr>
            <a:r>
              <a:t>Live Interactive Dashboard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Full Dark-Mode UI: Live text sanitizer, screen frame redactor, webcam sentinel, acoustic voice monitor.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360° Radar HUD: Live Arduino UNO Q ultrasonic proximity display.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Interactive Stress Profiler: Real-time SVG latency time-series.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Fast Response: Built on high-performance FastAPI, OpenCV, and ONNX Runtime.</a:t>
            </a:r>
          </a:p>
          <a:p>
            <a:pPr>
              <a:spcBef>
                <a:spcPts val="500"/>
              </a:spcBef>
              <a:defRPr sz="1100">
                <a:solidFill>
                  <a:srgbClr val="9CA3AF"/>
                </a:solidFill>
              </a:defRPr>
            </a:pPr>
            <a:r>
              <a:t>• Zero External CDN Dependencies: Fully self-contained, responsive, and private.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